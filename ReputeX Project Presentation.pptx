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12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4.png"/><Relationship Id="rId3" Type="http://schemas.openxmlformats.org/officeDocument/2006/relationships/image" Target="../media/image41.png"/><Relationship Id="rId21" Type="http://schemas.openxmlformats.org/officeDocument/2006/relationships/image" Target="../media/image57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" Type="http://schemas.openxmlformats.org/officeDocument/2006/relationships/image" Target="../media/image16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2.png"/><Relationship Id="rId23" Type="http://schemas.openxmlformats.org/officeDocument/2006/relationships/image" Target="../media/image59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18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image" Target="../media/image41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image" Target="../media/image16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5" Type="http://schemas.openxmlformats.org/officeDocument/2006/relationships/image" Target="../media/image60.png"/><Relationship Id="rId15" Type="http://schemas.openxmlformats.org/officeDocument/2006/relationships/image" Target="../media/image69.png"/><Relationship Id="rId10" Type="http://schemas.openxmlformats.org/officeDocument/2006/relationships/image" Target="../media/image2.png"/><Relationship Id="rId4" Type="http://schemas.openxmlformats.org/officeDocument/2006/relationships/image" Target="../media/image18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41.png"/><Relationship Id="rId7" Type="http://schemas.openxmlformats.org/officeDocument/2006/relationships/image" Target="../media/image2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16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5" Type="http://schemas.openxmlformats.org/officeDocument/2006/relationships/image" Target="../media/image73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41.png"/><Relationship Id="rId21" Type="http://schemas.openxmlformats.org/officeDocument/2006/relationships/image" Target="../media/image101.png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16.png"/><Relationship Id="rId16" Type="http://schemas.openxmlformats.org/officeDocument/2006/relationships/image" Target="../media/image96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60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99.png"/><Relationship Id="rId4" Type="http://schemas.openxmlformats.org/officeDocument/2006/relationships/image" Target="../media/image18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3" Type="http://schemas.openxmlformats.org/officeDocument/2006/relationships/image" Target="../media/image102.png"/><Relationship Id="rId21" Type="http://schemas.openxmlformats.org/officeDocument/2006/relationships/image" Target="../media/image119.png"/><Relationship Id="rId7" Type="http://schemas.openxmlformats.org/officeDocument/2006/relationships/image" Target="../media/image106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image" Target="../media/image16.png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2.png"/><Relationship Id="rId5" Type="http://schemas.openxmlformats.org/officeDocument/2006/relationships/image" Target="../media/image104.png"/><Relationship Id="rId15" Type="http://schemas.openxmlformats.org/officeDocument/2006/relationships/image" Target="../media/image113.png"/><Relationship Id="rId23" Type="http://schemas.openxmlformats.org/officeDocument/2006/relationships/image" Target="../media/image121.png"/><Relationship Id="rId10" Type="http://schemas.openxmlformats.org/officeDocument/2006/relationships/image" Target="../media/image109.png"/><Relationship Id="rId19" Type="http://schemas.openxmlformats.org/officeDocument/2006/relationships/image" Target="../media/image117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18" Type="http://schemas.openxmlformats.org/officeDocument/2006/relationships/image" Target="../media/image137.png"/><Relationship Id="rId3" Type="http://schemas.openxmlformats.org/officeDocument/2006/relationships/image" Target="../media/image125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86.png"/><Relationship Id="rId2" Type="http://schemas.openxmlformats.org/officeDocument/2006/relationships/image" Target="../media/image16.png"/><Relationship Id="rId16" Type="http://schemas.openxmlformats.org/officeDocument/2006/relationships/image" Target="../media/image136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131.png"/><Relationship Id="rId5" Type="http://schemas.openxmlformats.org/officeDocument/2006/relationships/image" Target="../media/image126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19" Type="http://schemas.openxmlformats.org/officeDocument/2006/relationships/image" Target="../media/image138.png"/><Relationship Id="rId4" Type="http://schemas.openxmlformats.org/officeDocument/2006/relationships/image" Target="../media/image2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49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" Type="http://schemas.openxmlformats.org/officeDocument/2006/relationships/image" Target="../media/image16.png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11" Type="http://schemas.openxmlformats.org/officeDocument/2006/relationships/image" Target="../media/image147.png"/><Relationship Id="rId5" Type="http://schemas.openxmlformats.org/officeDocument/2006/relationships/image" Target="../media/image142.png"/><Relationship Id="rId15" Type="http://schemas.openxmlformats.org/officeDocument/2006/relationships/image" Target="../media/image151.png"/><Relationship Id="rId10" Type="http://schemas.openxmlformats.org/officeDocument/2006/relationships/image" Target="../media/image146.png"/><Relationship Id="rId4" Type="http://schemas.openxmlformats.org/officeDocument/2006/relationships/image" Target="../media/image141.png"/><Relationship Id="rId9" Type="http://schemas.openxmlformats.org/officeDocument/2006/relationships/image" Target="../media/image2.png"/><Relationship Id="rId1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4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0" Type="http://schemas.openxmlformats.org/officeDocument/2006/relationships/image" Target="../media/image160.png"/><Relationship Id="rId4" Type="http://schemas.openxmlformats.org/officeDocument/2006/relationships/image" Target="../media/image2.png"/><Relationship Id="rId9" Type="http://schemas.openxmlformats.org/officeDocument/2006/relationships/image" Target="../media/image1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0.png"/><Relationship Id="rId18" Type="http://schemas.openxmlformats.org/officeDocument/2006/relationships/image" Target="../media/image175.png"/><Relationship Id="rId3" Type="http://schemas.openxmlformats.org/officeDocument/2006/relationships/image" Target="../media/image41.png"/><Relationship Id="rId7" Type="http://schemas.openxmlformats.org/officeDocument/2006/relationships/image" Target="../media/image165.png"/><Relationship Id="rId12" Type="http://schemas.openxmlformats.org/officeDocument/2006/relationships/image" Target="../media/image169.png"/><Relationship Id="rId17" Type="http://schemas.openxmlformats.org/officeDocument/2006/relationships/image" Target="../media/image174.png"/><Relationship Id="rId2" Type="http://schemas.openxmlformats.org/officeDocument/2006/relationships/image" Target="../media/image16.png"/><Relationship Id="rId16" Type="http://schemas.openxmlformats.org/officeDocument/2006/relationships/image" Target="../media/image173.png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63.png"/><Relationship Id="rId15" Type="http://schemas.openxmlformats.org/officeDocument/2006/relationships/image" Target="../media/image172.png"/><Relationship Id="rId10" Type="http://schemas.openxmlformats.org/officeDocument/2006/relationships/image" Target="../media/image2.png"/><Relationship Id="rId19" Type="http://schemas.openxmlformats.org/officeDocument/2006/relationships/image" Target="../media/image176.png"/><Relationship Id="rId4" Type="http://schemas.openxmlformats.org/officeDocument/2006/relationships/image" Target="../media/image18.png"/><Relationship Id="rId9" Type="http://schemas.openxmlformats.org/officeDocument/2006/relationships/image" Target="../media/image167.png"/><Relationship Id="rId14" Type="http://schemas.openxmlformats.org/officeDocument/2006/relationships/image" Target="../media/image1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5.png"/><Relationship Id="rId18" Type="http://schemas.openxmlformats.org/officeDocument/2006/relationships/image" Target="../media/image190.png"/><Relationship Id="rId3" Type="http://schemas.openxmlformats.org/officeDocument/2006/relationships/image" Target="../media/image41.png"/><Relationship Id="rId7" Type="http://schemas.openxmlformats.org/officeDocument/2006/relationships/image" Target="../media/image180.png"/><Relationship Id="rId12" Type="http://schemas.openxmlformats.org/officeDocument/2006/relationships/image" Target="../media/image184.png"/><Relationship Id="rId17" Type="http://schemas.openxmlformats.org/officeDocument/2006/relationships/image" Target="../media/image189.png"/><Relationship Id="rId2" Type="http://schemas.openxmlformats.org/officeDocument/2006/relationships/image" Target="../media/image16.png"/><Relationship Id="rId16" Type="http://schemas.openxmlformats.org/officeDocument/2006/relationships/image" Target="../media/image188.png"/><Relationship Id="rId20" Type="http://schemas.openxmlformats.org/officeDocument/2006/relationships/image" Target="../media/image1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9.png"/><Relationship Id="rId11" Type="http://schemas.openxmlformats.org/officeDocument/2006/relationships/image" Target="../media/image183.png"/><Relationship Id="rId5" Type="http://schemas.openxmlformats.org/officeDocument/2006/relationships/image" Target="../media/image178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19" Type="http://schemas.openxmlformats.org/officeDocument/2006/relationships/image" Target="../media/image191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14" Type="http://schemas.openxmlformats.org/officeDocument/2006/relationships/image" Target="../media/image1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6100" y="4769941"/>
            <a:ext cx="8696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JetBrains Mono"/>
              </a:rPr>
              <a:t> github.com/Aru-D-Rizz/ReputeX  repute-x-iota.vercel.app  Non-Custodial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01 of 14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1697533"/>
            <a:ext cx="1301204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079" y="1697533"/>
            <a:ext cx="1794569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948" y="1697533"/>
            <a:ext cx="1823144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9575" y="2154733"/>
            <a:ext cx="11782425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sz="4350" b="0" i="0" u="none">
                <a:solidFill>
                  <a:srgbClr val="FFFFFF"/>
                </a:solidFill>
                <a:latin typeface="Plus Jakarta Sans ExtraBold"/>
              </a:rPr>
              <a:t>REPUTE</a:t>
            </a:r>
            <a:r>
              <a:rPr sz="4350" b="0" i="0" u="none">
                <a:solidFill>
                  <a:srgbClr val="38BDF8"/>
                </a:solidFill>
                <a:latin typeface="Plus Jakarta Sans ExtraBold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2849016"/>
            <a:ext cx="9048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Multi-Chain Web3 Wallet Reputation &amp; Explainable AI (XAI) Security Platform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764208"/>
            <a:ext cx="118169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9854" y="1764208"/>
            <a:ext cx="118169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8723" y="1764208"/>
            <a:ext cx="146744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34816"/>
            <a:ext cx="184398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3782466"/>
            <a:ext cx="1843980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F1F5F9"/>
                </a:solidFill>
                <a:latin typeface="Plus Jakarta Sans SemiBold"/>
              </a:rPr>
              <a:t>Automated Inline DOM Scanning across 6 Blockchains &amp; ENS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72680" y="3534816"/>
            <a:ext cx="184398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872680" y="3782466"/>
            <a:ext cx="184398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F1F5F9"/>
                </a:solidFill>
                <a:latin typeface="Plus Jakarta Sans SemiBold"/>
              </a:rPr>
              <a:t>Continuous Mathematical Scoring Engine (0–100)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3860" y="3534816"/>
            <a:ext cx="1844129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73860" y="3782466"/>
            <a:ext cx="1844129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F1F5F9"/>
                </a:solidFill>
                <a:latin typeface="Plus Jakarta Sans SemiBold"/>
              </a:rPr>
              <a:t>Nvidia Nemotron 3.5 AI Plain-English Risk Synthesis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5190" y="3534816"/>
            <a:ext cx="184398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75190" y="3782466"/>
            <a:ext cx="184398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F1F5F9"/>
                </a:solidFill>
                <a:latin typeface="Plus Jakarta Sans SemiBold"/>
              </a:rPr>
              <a:t>Real-Time Etherscan ABI Audit &amp; Threat Reporting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6370" y="3534816"/>
            <a:ext cx="1844129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76370" y="3782466"/>
            <a:ext cx="1844129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F1F5F9"/>
                </a:solidFill>
                <a:latin typeface="Plus Jakarta Sans SemiBold"/>
              </a:rPr>
              <a:t>Manifest V3 Universal Extension for 6 Browsers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575" y="4798516"/>
            <a:ext cx="123825" cy="12858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86100" y="4798516"/>
            <a:ext cx="133350" cy="128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118145"/>
            <a:ext cx="5581650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638800"/>
            <a:ext cx="5143500" cy="50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5638800"/>
            <a:ext cx="5143500" cy="504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0337" y="556170"/>
            <a:ext cx="146208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02 of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362" y="314325"/>
            <a:ext cx="4910286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PROBLEM &amp; SOLUTION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514350"/>
            <a:ext cx="5370827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Executive Summary: The Web3 Trust Crisis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75" y="333375"/>
            <a:ext cx="128587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0575" y="5815012"/>
            <a:ext cx="1990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FCA5A5"/>
                </a:solidFill>
                <a:latin typeface="Plus Jakarta Sans SemiBold"/>
              </a:rPr>
              <a:t>AVERAGE MANUAL CHECK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5762625"/>
            <a:ext cx="21050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F87171"/>
                </a:solidFill>
                <a:latin typeface="JetBrains Mono"/>
              </a:rPr>
              <a:t>90–180 sec / addr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5815012"/>
            <a:ext cx="216410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86EFAC"/>
                </a:solidFill>
                <a:latin typeface="Plus Jakarta Sans SemiBold"/>
              </a:rPr>
              <a:t>REPUTEX AUTOMATED PAGE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7875" y="5762625"/>
            <a:ext cx="17335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4D399"/>
                </a:solidFill>
                <a:latin typeface="JetBrains Mono"/>
              </a:rPr>
              <a:t>~3.0 sec (All)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1337220"/>
            <a:ext cx="2880360" cy="20955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87171"/>
                </a:solidFill>
                <a:latin typeface="Plus Jakarta Sans"/>
              </a:rPr>
              <a:t>Broken Web3 Trust Infrastructure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6265" y="1318170"/>
            <a:ext cx="1125884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" y="1699170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Billions Lost Annually: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Phishing, rug pulls, unverified contract drainers, and malicious addresses cause massive user capital losses.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2212627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Tab Fatigue &amp; Friction: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Users must manually copy addresses, open explorer tabs, paste, and search for every single encounter.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2726084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Uninterpretable Raw Logs: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Explorers present raw hex, bytecode, and traces that 99% of normal users cannot comprehend.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3239541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Social Media Blindspots: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Wallets on Twitter/X, OpenSea, Discord, and DexScreener carry zero inline safety context.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3752998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Static / Coarse Scoring: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Legacy tools rely on static blacklists producing identical generic ratings for diverse wallets.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1337220"/>
            <a:ext cx="2530316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4D399"/>
                </a:solidFill>
                <a:latin typeface="Plus Jakarta Sans"/>
              </a:rPr>
              <a:t>ReputeX Autonomous Security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7465" y="1318170"/>
            <a:ext cx="1125884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48450" y="1699170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Zero-Click Inline Scanning: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Parses every webpage text node and replaces addresses with contextual, colored risk badges.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2212627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Continuous Math Scoring: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Evaluates wallet age, tx count, balance, and volume via smooth mathematical curves.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2726084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Nvidia Nemotron AI: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Synthesizes complex raw blockchain transactions into clear plain-English security summaries.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8450" y="3239541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Community Threat Network: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Supabase PostgreSQL pipeline to crowdsource and flag phishing reports in real-time.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450" y="3752998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30x–100x Efficiency Boost: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Eliminates copy-pasting entirely. Evaluates all page addresses simultaneously in under 3 seconds.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1365795"/>
            <a:ext cx="161925" cy="1619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1732508"/>
            <a:ext cx="13335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2245965"/>
            <a:ext cx="1333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2759422"/>
            <a:ext cx="13335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3272879"/>
            <a:ext cx="13335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3786336"/>
            <a:ext cx="13335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1732508"/>
            <a:ext cx="133350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2245965"/>
            <a:ext cx="133350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2759422"/>
            <a:ext cx="133350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3272879"/>
            <a:ext cx="133350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3786336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784895"/>
            <a:ext cx="11372850" cy="36206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3087" y="556170"/>
            <a:ext cx="2319337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118145"/>
            <a:ext cx="11372850" cy="55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03 of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362" y="314325"/>
            <a:ext cx="668565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CORE ENGINE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514350"/>
            <a:ext cx="7234966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Automatic Multi-Chain Address Detection &amp; Highlighting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232445"/>
            <a:ext cx="9147720" cy="3238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CBD5E1"/>
                </a:solidFill>
                <a:latin typeface="Plus Jakarta Sans"/>
              </a:rPr>
              <a:t>High-Performance DOM Parsing:</a:t>
            </a:r>
            <a:r>
              <a:rPr sz="1012" b="0" i="0" u="none">
                <a:solidFill>
                  <a:srgbClr val="CBD5E1"/>
                </a:solidFill>
                <a:latin typeface="Plus Jakarta Sans"/>
              </a:rPr>
              <a:t> Read-only isolated DOM TreeWalker safely parses text nodes with debounced MutationObserver for dynamic SPAs (Twitter/X, Etherscan, OpenSea, GitHub, DexScreener).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9220" y="1270545"/>
            <a:ext cx="1901279" cy="24765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67897"/>
              </p:ext>
            </p:extLst>
          </p:nvPr>
        </p:nvGraphicFramePr>
        <p:xfrm>
          <a:off x="419100" y="1794420"/>
          <a:ext cx="11353798" cy="36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0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Blockchain / 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Badge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Address Regex Pattern &amp;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Supported Address 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Ethereum &amp; EVM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0x[a-fA-F0-9]{40} (Checksum)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ETH, BSC, Polygon, Arbitrum, Optimism, 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Bitcoin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BBF24"/>
                          </a:solidFill>
                          <a:latin typeface="JetBrains Mono"/>
                        </a:rPr>
                        <a:t>^(1|3|bc1q|bc1p)[a-zA-HJ-NP-Z0-9]{25,62}$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Legacy P2PKH, P2SH, SegWit (v0), Taproot (v1)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Solana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^[1-9A-HJ-NP-Za-km-z]{32,44}$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Base58 Public Keys &amp; Associated Accounts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Cardano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8BDF8"/>
                          </a:solidFill>
                          <a:latin typeface="JetBrains Mono"/>
                        </a:rPr>
                        <a:t>^addr(_test)?1[a-z0-9]{50,100}$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Shelley Bech32 Mainnet &amp; Testnet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Polkadot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JetBrains Mono"/>
                        </a:rPr>
                        <a:t>^1[0-9a-zA-Z]{47,48}$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SS58 Relay Chain Account Formats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XRP Ledger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4D399"/>
                          </a:solidFill>
                          <a:latin typeface="JetBrains Mono"/>
                        </a:rPr>
                        <a:t>^r[0-9a-zA-Z]{24,34}$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Ripple Base58 Account Addresses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20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ENS Domains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7DD3FC"/>
                          </a:solidFill>
                          <a:latin typeface="JetBrains Mono"/>
                        </a:rPr>
                        <a:t>^[a-zA-Z0-9-]+\.(eth|crypto|dao)$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Web3 Naming Services &amp; Forward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75" y="333375"/>
            <a:ext cx="128587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261020"/>
            <a:ext cx="114300" cy="1285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19100" y="2164853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2658" y="2164853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65699" y="2164853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521" y="2164853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9100" y="2625774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62658" y="2625774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65699" y="2625774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521" y="2625774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9100" y="3086695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2658" y="3086695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5699" y="3086695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521" y="3086695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9100" y="3547616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62658" y="3547616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65699" y="3547616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521" y="3547616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9100" y="4008536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462658" y="4008536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5699" y="4008536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66521" y="4008536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9100" y="4469457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462658" y="4469457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65699" y="4469457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66521" y="4469457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9100" y="4930378"/>
            <a:ext cx="204355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462658" y="4930378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65699" y="4930378"/>
            <a:ext cx="420082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66521" y="4930378"/>
            <a:ext cx="3406378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5058" y="2274391"/>
            <a:ext cx="914400" cy="26089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058" y="2735312"/>
            <a:ext cx="914400" cy="26089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5058" y="3196232"/>
            <a:ext cx="914400" cy="26089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15058" y="3666679"/>
            <a:ext cx="914400" cy="26089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5058" y="4118074"/>
            <a:ext cx="1266825" cy="26089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15058" y="4578994"/>
            <a:ext cx="984944" cy="26089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15058" y="5039915"/>
            <a:ext cx="1125884" cy="260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118145"/>
            <a:ext cx="5581650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5819775"/>
            <a:ext cx="51435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1632495"/>
            <a:ext cx="5143500" cy="504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213520"/>
            <a:ext cx="5143500" cy="504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2794545"/>
            <a:ext cx="5143500" cy="504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3375570"/>
            <a:ext cx="5143500" cy="5286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3980408"/>
            <a:ext cx="5143500" cy="504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1632495"/>
            <a:ext cx="5143500" cy="79414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2512367"/>
            <a:ext cx="5143500" cy="79414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3392239"/>
            <a:ext cx="5143500" cy="79414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4272111"/>
            <a:ext cx="5143500" cy="79414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91650" y="556170"/>
            <a:ext cx="239077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04 of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787" y="314325"/>
            <a:ext cx="550649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DETERMINISTIC MULTI-FACTOR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" y="514350"/>
            <a:ext cx="5966839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Explainable AI (XAI) Continuous Scoring Engine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575" y="333375"/>
            <a:ext cx="100012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8650" y="5991225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Deterministic SHA-256 dispersion ensures unique score outputs.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8170"/>
            <a:ext cx="5400675" cy="20002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8BDF8"/>
                </a:solidFill>
                <a:latin typeface="Plus Jakarta Sans"/>
              </a:rPr>
              <a:t>Continuous Math Curves (No Step Functions)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318170"/>
            <a:ext cx="5400675" cy="20002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4D399"/>
                </a:solidFill>
                <a:latin typeface="Plus Jakarta Sans"/>
              </a:rPr>
              <a:t>4-Tier Risk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675" y="5905500"/>
            <a:ext cx="1628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 SemiBold"/>
              </a:rPr>
              <a:t>XAI FACTOR 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905500"/>
            <a:ext cx="1381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Plus Jakarta Sans SemiBold"/>
              </a:rPr>
              <a:t>Full Deterministic Proof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" y="1346745"/>
            <a:ext cx="180975" cy="15716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1346745"/>
            <a:ext cx="180975" cy="1571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2475" y="1718220"/>
            <a:ext cx="4895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Plus Jakarta Sans"/>
              </a:rPr>
              <a:t>1. Wallet Age (Max 15 pts)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475" y="1880145"/>
            <a:ext cx="489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38BDF8"/>
                </a:solidFill>
                <a:latin typeface="JetBrains Mono"/>
              </a:rPr>
              <a:t>Score = √(ageDays / 1825) ×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2299245"/>
            <a:ext cx="4895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2. Transaction Count (Max 14 pts)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" y="2461170"/>
            <a:ext cx="489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38BDF8"/>
                </a:solidFill>
                <a:latin typeface="JetBrains Mono"/>
              </a:rPr>
              <a:t>Score = [ln(1 + txCount) / ln(1 + 5000)] ×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" y="2880270"/>
            <a:ext cx="4895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3. USD Transacted Volume (Max 10 pts)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" y="3042195"/>
            <a:ext cx="489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38BDF8"/>
                </a:solidFill>
                <a:latin typeface="JetBrains Mono"/>
              </a:rPr>
              <a:t>Score = [log₁₀(1 + volumeUSD) / 6] ×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3461295"/>
            <a:ext cx="4895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4. Live USD Balance (6 pts) &amp; Counterparties (8 pts)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475" y="3623220"/>
            <a:ext cx="4895850" cy="195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38BDF8"/>
                </a:solidFill>
                <a:latin typeface="JetBrains Mono"/>
              </a:rPr>
              <a:t>Balance: log₁₀(bal)/4.5 × 6 | Peers: (peers)0.36 × 1.5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475" y="4066133"/>
            <a:ext cx="4895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Plus Jakarta Sans"/>
              </a:rPr>
              <a:t>5. ABI Verification &amp; Cryptographic Micro-Entropy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475" y="4228058"/>
            <a:ext cx="489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34D399"/>
                </a:solidFill>
                <a:latin typeface="JetBrains Mono"/>
              </a:rPr>
              <a:t>Verified: +12 pts | Unverified: -20 pts | Variance: ±2.0 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2725" y="1718220"/>
            <a:ext cx="48863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Plus Jakarta Sans"/>
              </a:rPr>
              <a:t>LOW RISK / TRUSTED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2725" y="1994445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Established wallet age, high transaction volume, verified contract code, zero malicious flags.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2725" y="2598092"/>
            <a:ext cx="48863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BBF24"/>
                </a:solidFill>
                <a:latin typeface="Plus Jakarta Sans"/>
              </a:rPr>
              <a:t>CAUTION / MEDIUM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2725" y="2874317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Moderate history, neutral counterparty graph, new or dormant address with no active penalties.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2725" y="3477964"/>
            <a:ext cx="48863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B923C"/>
                </a:solidFill>
                <a:latin typeface="Plus Jakarta Sans"/>
              </a:rPr>
              <a:t>HIGH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2725" y="3754189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Unverified smart contract bytecode, rapid fund velocity, or 2-hop proximity to flagged entities.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2725" y="4357836"/>
            <a:ext cx="48863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87171"/>
                </a:solidFill>
                <a:latin typeface="Plus Jakarta Sans"/>
              </a:rPr>
              <a:t>CRITICAL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2725" y="4634061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Direct interaction with Tornado Cash, wallet drainers, phishing registries, or community threat reports.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75590" y="1718220"/>
            <a:ext cx="773459" cy="2476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45985" y="2598092"/>
            <a:ext cx="703064" cy="2476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45985" y="3477964"/>
            <a:ext cx="703064" cy="2476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16530" y="4357836"/>
            <a:ext cx="632519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118145"/>
            <a:ext cx="5581650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638800"/>
            <a:ext cx="5143500" cy="50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1651545"/>
            <a:ext cx="5143500" cy="7655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2502842"/>
            <a:ext cx="5143500" cy="76557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354139"/>
            <a:ext cx="5143500" cy="78462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4224486"/>
            <a:ext cx="5143500" cy="7655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1650" y="556170"/>
            <a:ext cx="23907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05 of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" y="314325"/>
            <a:ext cx="458450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CONVERSATIONAL ON-CHAIN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514350"/>
            <a:ext cx="5058757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Nvidia Nemotron AI Security Consultant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575" y="333375"/>
            <a:ext cx="157162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650" y="1318170"/>
            <a:ext cx="5400675" cy="20002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8BDF8"/>
                </a:solidFill>
                <a:latin typeface="Plus Jakarta Sans"/>
              </a:rPr>
              <a:t>Multi-Model Gateway &amp; Cascade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5815012"/>
            <a:ext cx="132590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 SemiBold"/>
              </a:rPr>
              <a:t>INFERENCE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5762625"/>
            <a:ext cx="990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8BDF8"/>
                </a:solidFill>
                <a:latin typeface="JetBrains Mono"/>
              </a:rPr>
              <a:t>&lt; 800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1318170"/>
            <a:ext cx="5400675" cy="20002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4D399"/>
                </a:solidFill>
                <a:latin typeface="Plus Jakarta Sans"/>
              </a:rPr>
              <a:t>Interactive Security Capabilities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1346745"/>
            <a:ext cx="200025" cy="1571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7250" y="1651545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Primary AI Engine: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Powered by </a:t>
            </a:r>
            <a:r>
              <a:rPr sz="1087" b="0" i="0" u="none">
                <a:solidFill>
                  <a:srgbClr val="38BDF8"/>
                </a:solidFill>
                <a:latin typeface="Plus Jakarta Sans"/>
              </a:rPr>
              <a:t>nvidia/nemotron-3.5-lightning:free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, optimized for sub-800ms natural language risk synthesis.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165002"/>
            <a:ext cx="4914900" cy="1164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Cascading Fallback Network: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Automatic routing with 99.9% uptime failover: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3434506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Zero Data Retention: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Queries are stateless; no user prompts or addresses are retained or logged on external servers.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1346745"/>
            <a:ext cx="200025" cy="15716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7250" y="2621309"/>
            <a:ext cx="4914900" cy="708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94A3B8"/>
                </a:solidFill>
                <a:latin typeface="JetBrains Mono"/>
              </a:rPr>
              <a:t>1. Google Gemma 2 9B IT</a:t>
            </a:r>
            <a:r>
              <a:t>
</a:t>
            </a:r>
            <a:r>
              <a:rPr sz="900" b="0" i="0" u="none">
                <a:solidFill>
                  <a:srgbClr val="94A3B8"/>
                </a:solidFill>
                <a:latin typeface="JetBrains Mono"/>
              </a:rPr>
              <a:t> 2. Qwen 2.5 72B Instruct</a:t>
            </a:r>
            <a:r>
              <a:t>
</a:t>
            </a:r>
            <a:r>
              <a:rPr sz="900" b="0" i="0" u="none">
                <a:solidFill>
                  <a:srgbClr val="94A3B8"/>
                </a:solidFill>
                <a:latin typeface="JetBrains Mono"/>
              </a:rPr>
              <a:t> 3. Meta Llama 3.3 70B Instruct</a:t>
            </a:r>
            <a:r>
              <a:t>
</a:t>
            </a:r>
            <a:r>
              <a:rPr sz="900" b="0" i="0" u="none">
                <a:solidFill>
                  <a:srgbClr val="94A3B8"/>
                </a:solidFill>
                <a:latin typeface="JetBrains Mono"/>
              </a:rPr>
              <a:t> 4. Nvidia Nemotron 3 Ultra 550B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725" y="1775370"/>
            <a:ext cx="17621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1F5F9"/>
                </a:solidFill>
                <a:latin typeface="Plus Jakarta Sans"/>
              </a:rPr>
              <a:t>Plain-English Risk Synthesis: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725" y="1975395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Translates raw block metrics, logs, and ABI bytecode flags into actionable user security warnings.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2626667"/>
            <a:ext cx="1790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1F5F9"/>
                </a:solidFill>
                <a:latin typeface="Plus Jakarta Sans"/>
              </a:rPr>
              <a:t>Contextual Interactive Q&amp;A: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2826692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Users ask questions directly: </a:t>
            </a:r>
            <a:r>
              <a:rPr sz="975" b="0" i="1" u="none">
                <a:solidFill>
                  <a:srgbClr val="94A3B8"/>
                </a:solidFill>
                <a:latin typeface="Plus Jakarta Sans"/>
              </a:rPr>
              <a:t>"Is this contract safe for staking?", "Why is this flagged?"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725" y="3477964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1F5F9"/>
                </a:solidFill>
                <a:latin typeface="Plus Jakarta Sans"/>
              </a:rPr>
              <a:t>Preset Quick Chips: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25" y="3677989"/>
            <a:ext cx="4886325" cy="365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One-click prompt presets for instant evaluation: [Is it safe?] [Why suspicious?] [Risky connections?]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2725" y="4348311"/>
            <a:ext cx="1314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1F5F9"/>
                </a:solidFill>
                <a:latin typeface="Plus Jakarta Sans"/>
              </a:rPr>
              <a:t>Entity Type Classifier: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725" y="4548336"/>
            <a:ext cx="48863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Predicts probabilities across: Personal, Exchange, Merchant, Whale, Bot, Mixer, and Scam.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1684883"/>
            <a:ext cx="13335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" y="2198340"/>
            <a:ext cx="13335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" y="3467844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5591175"/>
            <a:ext cx="5143500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118145"/>
            <a:ext cx="5581650" cy="25271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775" y="3797647"/>
            <a:ext cx="5581650" cy="252710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3150" y="556170"/>
            <a:ext cx="181927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06 of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" y="314325"/>
            <a:ext cx="5799832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REAL-TIME CODE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514350"/>
            <a:ext cx="6324853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Smart Contract Audit &amp; Etherscan ABI Verification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75" y="333375"/>
            <a:ext cx="147637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8650" y="1318170"/>
            <a:ext cx="5400675" cy="20002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8BDF8"/>
                </a:solidFill>
                <a:latin typeface="Plus Jakarta Sans"/>
              </a:rPr>
              <a:t>Live Etherscan ABI Audit Pipeline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1346745"/>
            <a:ext cx="200025" cy="1571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50" y="1651545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Contract vs EOA Detection: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Automatically identifies whether an EVM address is a user account (EOA) or deployed contract bytecode.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165002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Real-Time ABI Query: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Directly contacts Etherscan API endpoints to check if source code has been verified and open-sourced.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2678459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Bytecode Hash Matching: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Matches compiled on-chain bytecode against audited contract repositories to detect honeypots.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191916"/>
            <a:ext cx="4914900" cy="622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Function Signature Inspection: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Enables deep analysis of dangerous method signatures such as mint(), drain(), pause(), and blacklist functions.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1646932"/>
            <a:ext cx="238029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34D399"/>
                </a:solidFill>
                <a:latin typeface="Plus Jakarta Sans"/>
              </a:rPr>
              <a:t>Verified Open-Source Contract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6525" y="1613594"/>
            <a:ext cx="1266825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48450" y="1937444"/>
            <a:ext cx="4914900" cy="204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Full transparency: Auditable source code publicly available on Etherscan.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8450" y="2246560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Protocol legitimacy signal: High assurance for established dApps (Uniswap, Aave).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8450" y="2760017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Enables detailed function signature risk inspection before signing approvals.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850" y="4428678"/>
            <a:ext cx="2840355" cy="1809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F87171"/>
                </a:solidFill>
                <a:latin typeface="Plus Jakarta Sans"/>
              </a:rPr>
              <a:t>Unverified Closed-Source Contract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5980" y="4395341"/>
            <a:ext cx="1337369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48450" y="4719191"/>
            <a:ext cx="4914900" cy="204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High-risk vector: #1 method for wallet drainers, honeypots, and rug pulls.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5028307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Instant alert banner triggered across extension popup and webpage hover overlay.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5541764"/>
            <a:ext cx="4914900" cy="204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Scores are severely downgraded to prevent catastrophic fund loss.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4457253"/>
            <a:ext cx="152400" cy="147637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1684883"/>
            <a:ext cx="13335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2198340"/>
            <a:ext cx="171450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" y="2711797"/>
            <a:ext cx="13335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" y="3225254"/>
            <a:ext cx="1333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1970782"/>
            <a:ext cx="1143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2279898"/>
            <a:ext cx="11430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2793355"/>
            <a:ext cx="11430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4752528"/>
            <a:ext cx="1047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5061644"/>
            <a:ext cx="10477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5575101"/>
            <a:ext cx="1047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118145"/>
            <a:ext cx="5581650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638800"/>
            <a:ext cx="5143500" cy="50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1651545"/>
            <a:ext cx="5143500" cy="714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2461170"/>
            <a:ext cx="5143500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3251745"/>
            <a:ext cx="5143500" cy="714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4061370"/>
            <a:ext cx="5143500" cy="714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4525" y="556170"/>
            <a:ext cx="22479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07 of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837" y="314325"/>
            <a:ext cx="6049416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CROWDSOURCED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514350"/>
            <a:ext cx="6556913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Supabase Cloud DB &amp; Community Threat Reporting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333375"/>
            <a:ext cx="119062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650" y="1318170"/>
            <a:ext cx="5400675" cy="2000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8BDF8"/>
                </a:solidFill>
                <a:latin typeface="Plus Jakarta Sans"/>
              </a:rPr>
              <a:t>Cloud Database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5815012"/>
            <a:ext cx="105548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 SemiBold"/>
              </a:rPr>
              <a:t>QUERY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3450" y="5762625"/>
            <a:ext cx="8667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8BDF8"/>
                </a:solidFill>
                <a:latin typeface="JetBrains Mono"/>
              </a:rPr>
              <a:t>&lt; 15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1318170"/>
            <a:ext cx="5400675" cy="2000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4D399"/>
                </a:solidFill>
                <a:latin typeface="Plus Jakarta Sans"/>
              </a:rPr>
              <a:t>In-Popup Threat Flagging Workflow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1346745"/>
            <a:ext cx="161925" cy="1571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7250" y="1651545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Managed Supabase PostgreSQL: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Cloud-hosted relational database storing verified threat submissions and persistent user watchlists.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165002"/>
            <a:ext cx="4914900" cy="418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Transaction Pooling (pg.Pool):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Enterprise-grade connection pooling configured for sub-millisecond serverless execution over SSL.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687984"/>
            <a:ext cx="4914900" cy="796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Database Schema: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3588841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Direct Scan Pipeline: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Every address analyzed by the scoring engine is cross-referenced with active reports in real time.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1346745"/>
            <a:ext cx="133350" cy="1571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7250" y="2930425"/>
            <a:ext cx="4914900" cy="553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53"/>
              </a:lnSpc>
            </a:pPr>
            <a:r>
              <a:rPr sz="937" b="0" i="0" u="none">
                <a:solidFill>
                  <a:srgbClr val="94A3B8"/>
                </a:solidFill>
                <a:latin typeface="JetBrains Mono"/>
              </a:rPr>
              <a:t>• public.reports: address, threat_type, description, client_id, timestamp</a:t>
            </a:r>
            <a:r>
              <a:t>
</a:t>
            </a:r>
            <a:r>
              <a:rPr sz="937" b="0" i="0" u="none">
                <a:solidFill>
                  <a:srgbClr val="94A3B8"/>
                </a:solidFill>
                <a:latin typeface="JetBrains Mono"/>
              </a:rPr>
              <a:t> • public.watchlists: user_id, tracked_address, alert_threshold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4150" y="1775370"/>
            <a:ext cx="2066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8BDF8"/>
                </a:solidFill>
                <a:latin typeface="Plus Jakarta Sans"/>
              </a:rPr>
              <a:t>1. One-Click Community Flagging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4150" y="1965870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Users click </a:t>
            </a:r>
            <a:r>
              <a:rPr sz="975" b="0" i="1" u="none">
                <a:solidFill>
                  <a:srgbClr val="94A3B8"/>
                </a:solidFill>
                <a:latin typeface="Plus Jakarta Sans"/>
              </a:rPr>
              <a:t>"Flag Malicious Address"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directly from the popup details tab or hover card.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150" y="2584995"/>
            <a:ext cx="1533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4D399"/>
                </a:solidFill>
                <a:latin typeface="Plus Jakarta Sans"/>
              </a:rPr>
              <a:t>2. Five Threat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4150" y="3375570"/>
            <a:ext cx="1657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BBF24"/>
                </a:solidFill>
                <a:latin typeface="Plus Jakarta Sans"/>
              </a:rPr>
              <a:t>3. Dynamic Scoring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150" y="3566070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Verified reports cause instant reputation score deductions, warning all network users globally.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4150" y="4185195"/>
            <a:ext cx="1609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1F5F9"/>
                </a:solidFill>
                <a:latin typeface="Plus Jakarta Sans"/>
              </a:rPr>
              <a:t>4. Anti-Spam Protections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150" y="4375695"/>
            <a:ext cx="4914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Client fingerprinting, rate limiting, and confidence weighting eliminate malicious false reports.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1684883"/>
            <a:ext cx="11430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2198340"/>
            <a:ext cx="17145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2721322"/>
            <a:ext cx="13335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" y="3622178"/>
            <a:ext cx="133350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4150" y="2813595"/>
            <a:ext cx="773459" cy="2476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64759" y="2813595"/>
            <a:ext cx="1196429" cy="2476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18339" y="2813595"/>
            <a:ext cx="773459" cy="2476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48948" y="2813595"/>
            <a:ext cx="1125884" cy="2476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31983" y="2813595"/>
            <a:ext cx="5619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2728912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887" y="1118145"/>
            <a:ext cx="2728912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18145"/>
            <a:ext cx="2728912" cy="52064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512" y="1118145"/>
            <a:ext cx="2728912" cy="52064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857875"/>
            <a:ext cx="2405062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2812" y="5857875"/>
            <a:ext cx="2405062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5857875"/>
            <a:ext cx="2405062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5437" y="5857875"/>
            <a:ext cx="2405062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48900" y="556170"/>
            <a:ext cx="15335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08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362" y="314325"/>
            <a:ext cx="572750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EXTENSION INTERFACE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514350"/>
            <a:ext cx="6228903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Redesigned Popup UI &amp; Webpage Hover Overlay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575" y="333375"/>
            <a:ext cx="128587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1642020"/>
            <a:ext cx="25253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Score &amp; Mini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2812" y="1642020"/>
            <a:ext cx="25253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XAI Details &amp;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1642020"/>
            <a:ext cx="25253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AI Chat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5437" y="1642020"/>
            <a:ext cx="252531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History &amp; Overlay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1299120"/>
            <a:ext cx="56197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24162" y="1346745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0100" y="1918245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Reputation dial gauge with color-coded risk badge.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2403127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Active chain indicator (ETH, BTC, SOL, ADA, DOT, XRP).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2888009"/>
            <a:ext cx="2176462" cy="613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6-Metric Grid: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Wallet Age, Tx Count, Live Balance, Volume, Reports, Graph Risk.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52812" y="1299120"/>
            <a:ext cx="561975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05475" y="1346745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81412" y="1918245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Smart contract verification pill with direct Etherscan link.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1412" y="2403127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XAI Trust Signals &amp; Threat Factor breakdown.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81412" y="2888009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Nvidia AI summary card &amp; community threat report modal.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4125" y="1299120"/>
            <a:ext cx="561975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48687" y="1346745"/>
            <a:ext cx="19050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62725" y="1918245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Conversational Nemotron AI security consultant.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2725" y="2403127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Horizontal quick-question chip bar for fast queries.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2725" y="2888009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Real-time contextual answer rendering &amp; risk advice.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5437" y="1299120"/>
            <a:ext cx="561975" cy="2476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68100" y="1346745"/>
            <a:ext cx="15240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444037" y="1918245"/>
            <a:ext cx="2176462" cy="418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Persistent scan log stored in chrome.storage.local.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4037" y="2412652"/>
            <a:ext cx="2176462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CBD5E1"/>
                </a:solidFill>
                <a:latin typeface="Plus Jakarta Sans"/>
              </a:rPr>
              <a:t>One-click re-scan &amp; clear history privacy actions.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4037" y="2897534"/>
            <a:ext cx="2176462" cy="613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Webpage Hover Card: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Floating overlay opens on badge click inline.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1956345"/>
            <a:ext cx="57150" cy="571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2441227"/>
            <a:ext cx="57150" cy="571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2926109"/>
            <a:ext cx="57150" cy="571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52812" y="1956345"/>
            <a:ext cx="57150" cy="571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52812" y="2441227"/>
            <a:ext cx="57150" cy="571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52812" y="2926109"/>
            <a:ext cx="57150" cy="571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4125" y="1956345"/>
            <a:ext cx="57150" cy="571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4125" y="2441227"/>
            <a:ext cx="57150" cy="571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4125" y="2926109"/>
            <a:ext cx="57150" cy="571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15437" y="1956345"/>
            <a:ext cx="57150" cy="571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15437" y="2450752"/>
            <a:ext cx="57150" cy="571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15437" y="2935634"/>
            <a:ext cx="57150" cy="57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11372850" cy="373573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1775" y="556170"/>
            <a:ext cx="139065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09 of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" y="314325"/>
            <a:ext cx="5081736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PRODUCTION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514350"/>
            <a:ext cx="5570852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End-to-End Technology Stack Architecture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9100" y="1127670"/>
          <a:ext cx="11353798" cy="3716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954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Layer /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Technologies &amp; Frameworks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Role &amp; Key Responsibilities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Extension 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Manifest V3, Vanilla JS (ES6+), Modern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DOM TreeWalker parsing, MutationObserver, hover overlay, 4-tab popup UI, chrome.storage.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Backend API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Node.js, Express.js, Vercel Functions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RESTful API routing, CORS management, rate-limiting, production global CDN hosting.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Database &amp;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Supabase PostgreSQL, pg (node-postgres)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Threat reports, persistent user watchlists, connection pooling over SSL.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Blockchain APIs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Etherscan, Esplora, Koios, Subscan, XRPL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Multi-chain transaction history, contract ABI verification, UTXO balances, metadata.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954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Crypto Market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CoinGecko Live Prices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Real-time USD price feeds for BTC, ETH, SOL, ADA, DOT, XRP, BNB with 5-min caching.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9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AI / ML Gateway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OpenRouter (Nemotron 3.5, Gemma 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Plain-English security summaries, conversational Q&amp;A, multi-model fallback cascade.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333375"/>
            <a:ext cx="147637" cy="114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9100" y="1498103"/>
            <a:ext cx="249778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16882" y="1498103"/>
            <a:ext cx="4087266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04149" y="1498103"/>
            <a:ext cx="47687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9100" y="2084784"/>
            <a:ext cx="249778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16882" y="2084784"/>
            <a:ext cx="4087266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04149" y="2084784"/>
            <a:ext cx="47687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9100" y="2671464"/>
            <a:ext cx="249778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16882" y="2671464"/>
            <a:ext cx="4087266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04149" y="2671464"/>
            <a:ext cx="47687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9100" y="3079551"/>
            <a:ext cx="249778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16882" y="3079551"/>
            <a:ext cx="4087266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04149" y="3079551"/>
            <a:ext cx="47687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9100" y="3666232"/>
            <a:ext cx="249778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16882" y="3666232"/>
            <a:ext cx="4087266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04149" y="3666232"/>
            <a:ext cx="47687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9100" y="4252912"/>
            <a:ext cx="249778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16882" y="4252912"/>
            <a:ext cx="4087266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04149" y="4252912"/>
            <a:ext cx="47687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784895"/>
            <a:ext cx="11372850" cy="2554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837" y="556170"/>
            <a:ext cx="2033587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118145"/>
            <a:ext cx="11372850" cy="55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10 of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837" y="314325"/>
            <a:ext cx="6504682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EFFICIENCY &amp; CAPABILITY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514350"/>
            <a:ext cx="7034941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Comparative Analysis: ReputeX vs Traditional Explorers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232445"/>
            <a:ext cx="9782175" cy="3238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E2E8F0"/>
                </a:solidFill>
                <a:latin typeface="Plus Jakarta Sans"/>
              </a:rPr>
              <a:t>Speed Advantage:</a:t>
            </a:r>
            <a:r>
              <a:rPr sz="1012" b="0" i="0" u="none">
                <a:solidFill>
                  <a:srgbClr val="E2E8F0"/>
                </a:solidFill>
                <a:latin typeface="Plus Jakarta Sans"/>
              </a:rPr>
              <a:t> Manual checks take 90–180s per address across copy-pasting, tab-switching, and log reading. ReputeX evaluates all addresses on a page simultaneously in under 3 seconds.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675" y="1270545"/>
            <a:ext cx="1266825" cy="24765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25240"/>
              </p:ext>
            </p:extLst>
          </p:nvPr>
        </p:nvGraphicFramePr>
        <p:xfrm>
          <a:off x="428626" y="1794420"/>
          <a:ext cx="11353799" cy="2535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3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547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Feature / 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Etherscan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Blockchain.com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Solscan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CertiK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ReputeX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4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Multi-Chain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EVM Only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BTC Only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SOL Only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0B981"/>
                          </a:solidFill>
                          <a:latin typeface="Plus Jakarta Sans"/>
                        </a:rPr>
                        <a:t>Multi-chain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6 Chains + ENS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54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Zero-Click Webpage Scan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Inline DOM Scan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54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AI Security Summaries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0000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Static Audit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Nemotron AI Q&amp;A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547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Continuous Math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0000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0000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0000"/>
                          </a:solidFill>
                          <a:latin typeface="Plus Jakarta Sans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Coarse Grade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Continuous (0–100)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55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Community 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0000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Limited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 err="1">
                          <a:solidFill>
                            <a:srgbClr val="34D399"/>
                          </a:solidFill>
                          <a:latin typeface="Plus Jakarta Sans"/>
                        </a:rPr>
                        <a:t>Supabase</a:t>
                      </a:r>
                      <a:r>
                        <a:rPr sz="1050" b="1" i="0" u="none" dirty="0">
                          <a:solidFill>
                            <a:srgbClr val="34D399"/>
                          </a:solidFill>
                          <a:latin typeface="Plus Jakarta Sans"/>
                        </a:rPr>
                        <a:t> Direct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75" y="333375"/>
            <a:ext cx="119062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261020"/>
            <a:ext cx="133350" cy="1285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19100" y="2164853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57550" y="2164853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60590" y="2164853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63630" y="2164853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670" y="2164853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69710" y="2164853"/>
            <a:ext cx="1703189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9100" y="2558206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57550" y="2558206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60590" y="2558206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63630" y="2558206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670" y="2558206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69710" y="2558206"/>
            <a:ext cx="1703189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9100" y="2951559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57550" y="2951559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60590" y="2951559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63630" y="2951559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670" y="2951559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69710" y="2951559"/>
            <a:ext cx="1703189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9100" y="3344912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57550" y="334491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960590" y="334491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663630" y="334491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66670" y="334491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069710" y="3344912"/>
            <a:ext cx="1703189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9100" y="3931592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57550" y="393159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60590" y="393159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663630" y="393159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66670" y="3931592"/>
            <a:ext cx="170304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69710" y="3931592"/>
            <a:ext cx="1703189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9950" y="4079230"/>
            <a:ext cx="104775" cy="1333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9070" y="2705844"/>
            <a:ext cx="104775" cy="1333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2110" y="4079230"/>
            <a:ext cx="114300" cy="1333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2110" y="3492549"/>
            <a:ext cx="11430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2990" y="2312491"/>
            <a:ext cx="104775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6030" y="4079230"/>
            <a:ext cx="104775" cy="1333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9950" y="2705844"/>
            <a:ext cx="104775" cy="1333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2990" y="4079230"/>
            <a:ext cx="104775" cy="1333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2110" y="3099196"/>
            <a:ext cx="114300" cy="1333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19070" y="2312491"/>
            <a:ext cx="114300" cy="1333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6030" y="2705844"/>
            <a:ext cx="104775" cy="1333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9950" y="2312491"/>
            <a:ext cx="104775" cy="1333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2990" y="2705844"/>
            <a:ext cx="104775" cy="1333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6030" y="2312491"/>
            <a:ext cx="104775" cy="1333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22110" y="2312491"/>
            <a:ext cx="114300" cy="1333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22110" y="2705844"/>
            <a:ext cx="114300" cy="1333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9950" y="2312491"/>
            <a:ext cx="104775" cy="1333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2990" y="2312491"/>
            <a:ext cx="104775" cy="1333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6030" y="2312491"/>
            <a:ext cx="104775" cy="1333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19070" y="2312491"/>
            <a:ext cx="114300" cy="1333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22110" y="2312491"/>
            <a:ext cx="114300" cy="1333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9950" y="2705844"/>
            <a:ext cx="104775" cy="13335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2990" y="2705844"/>
            <a:ext cx="104775" cy="1333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6030" y="2705844"/>
            <a:ext cx="104775" cy="1333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9070" y="2705844"/>
            <a:ext cx="104775" cy="1333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22110" y="2705844"/>
            <a:ext cx="114300" cy="1333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2110" y="3099196"/>
            <a:ext cx="114300" cy="1333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2110" y="3492549"/>
            <a:ext cx="114300" cy="13335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9950" y="4079230"/>
            <a:ext cx="104775" cy="13335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2990" y="4079230"/>
            <a:ext cx="104775" cy="13335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6030" y="4079230"/>
            <a:ext cx="104775" cy="13335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2110" y="4079230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3689300" cy="25269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275" y="1118145"/>
            <a:ext cx="3689300" cy="25269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1118145"/>
            <a:ext cx="3689449" cy="25269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3797498"/>
            <a:ext cx="3689300" cy="252710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275" y="3797498"/>
            <a:ext cx="3689300" cy="252710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975" y="3797498"/>
            <a:ext cx="3689449" cy="252710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6025" y="556170"/>
            <a:ext cx="16764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11 of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" y="314325"/>
            <a:ext cx="491400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WEB3 APPLICATION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514350"/>
            <a:ext cx="5404738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Target Audiences &amp; Real-World Use Cases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575" y="333375"/>
            <a:ext cx="157162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0550" y="2230635"/>
            <a:ext cx="3327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Browsing Twitter/X or Discord and encountering wallet addresses. Shows inline badges to prevent sending funds to scams.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2250" y="2230635"/>
            <a:ext cx="3327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Evaluating new yield protocols. Automatically audits smart contract verification status on Etherscan before signing approval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3950" y="2230635"/>
            <a:ext cx="3327499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Browsing OpenSea, Blur, or MagicEden. Verifies seller wallet age, transaction history, and counterparty graph before purchasing NFTs.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4910137"/>
            <a:ext cx="3327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Investigating on-chain movements. Batch scans multiple addresses across articles and forum posts simultaneously with AI summaries.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2250" y="4910137"/>
            <a:ext cx="3327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Compliance teams screening customer deposit addresses. Integrates ReputeX REST API endpoints for automated address risk profiling.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3950" y="4910137"/>
            <a:ext cx="3327499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94A3B8"/>
                </a:solidFill>
                <a:latin typeface="Plus Jakarta Sans"/>
              </a:rPr>
              <a:t>Protecting Discord and Telegram groups from impersonators. Members can instantly verify any address shared in chat via the browser extension.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" y="2006798"/>
            <a:ext cx="1333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9150" y="1992510"/>
            <a:ext cx="17002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Everyday Crypto Users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250" y="2006798"/>
            <a:ext cx="1714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8950" y="1992510"/>
            <a:ext cx="17002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DeFi Traders &amp; Farmers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3950" y="2006798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21600" y="1992510"/>
            <a:ext cx="18202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NFT Collectors &amp; Traders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550" y="468630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8200" y="4672012"/>
            <a:ext cx="207025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Web3 Journalists &amp; Analysts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2250" y="4686300"/>
            <a:ext cx="19050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18000" y="4672012"/>
            <a:ext cx="21502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Exchange Compliance &amp; AML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73950" y="4686300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21600" y="4672012"/>
            <a:ext cx="209026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Web3 Community Managers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11372850" cy="374823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837" y="556170"/>
            <a:ext cx="2033587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12 of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37" y="314325"/>
            <a:ext cx="5260776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DEVELOPER API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514350"/>
            <a:ext cx="5768846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RESTful Backend API Reference &amp; Integration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275913"/>
              </p:ext>
            </p:extLst>
          </p:nvPr>
        </p:nvGraphicFramePr>
        <p:xfrm>
          <a:off x="419100" y="1127670"/>
          <a:ext cx="11353799" cy="3729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40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Method &amp; Endpoint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Purpose /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Payload &amp; Output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40"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Single Address Scan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{ address: '0x...' } → Returns full XAI score, metrics grid, factors, Nemotron summary.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40"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High-Speed Batch Scan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{ addresses: [...] } → Analyzes up to 50 addresses simultaneously in parallel.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40"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Nemotron AI Security Q&amp;A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{ address, question, context } → Returns AI consultant response string.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40"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Live Crypto Price Feed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Returns cached CoinGecko prices for BTC, ETH, SOL, ADA, DOT, XRP, BNB.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740"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Community Threat Report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94A3B8"/>
                          </a:solidFill>
                          <a:latin typeface="JetBrains Mono"/>
                        </a:rPr>
                        <a:t>{ address, category, description } → Inserts report into Supabase `public.reports`.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2746">
                <a:tc>
                  <a:txBody>
                    <a:bodyPr/>
                    <a:lstStyle/>
                    <a:p>
                      <a:pPr algn="l"/>
                      <a:endParaRPr sz="105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Fetch Threat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94A3B8"/>
                          </a:solidFill>
                          <a:latin typeface="JetBrains Mono"/>
                        </a:rPr>
                        <a:t>Returns list of existing community threat reports submitted for a target address.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333375"/>
            <a:ext cx="157162" cy="1143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9100" y="1498103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57550" y="1498103"/>
            <a:ext cx="306541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2962" y="1498103"/>
            <a:ext cx="5449937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9100" y="2057102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57550" y="2057102"/>
            <a:ext cx="306541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2962" y="2057102"/>
            <a:ext cx="5449937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9100" y="2616100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57550" y="2616100"/>
            <a:ext cx="306541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22962" y="2616100"/>
            <a:ext cx="5449937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9100" y="3175099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57550" y="3175099"/>
            <a:ext cx="306541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22962" y="3175099"/>
            <a:ext cx="5449937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9100" y="3734097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57550" y="3734097"/>
            <a:ext cx="306541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22962" y="3734097"/>
            <a:ext cx="5449937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9100" y="4293096"/>
            <a:ext cx="2838450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57550" y="4293096"/>
            <a:ext cx="3065412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22962" y="4293096"/>
            <a:ext cx="5449937" cy="9525"/>
          </a:xfrm>
          <a:prstGeom prst="rect">
            <a:avLst/>
          </a:prstGeom>
          <a:solidFill>
            <a:srgbClr val="1E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56605"/>
            <a:ext cx="491579" cy="26089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215604"/>
            <a:ext cx="491579" cy="26089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774602"/>
            <a:ext cx="491579" cy="26089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333601"/>
            <a:ext cx="421034" cy="26089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892599"/>
            <a:ext cx="491579" cy="26089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451598"/>
            <a:ext cx="421034" cy="260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118145"/>
            <a:ext cx="5581650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772150"/>
            <a:ext cx="5143500" cy="371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1651545"/>
            <a:ext cx="5143500" cy="714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2442120"/>
            <a:ext cx="5143500" cy="561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3080295"/>
            <a:ext cx="5143500" cy="714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3870870"/>
            <a:ext cx="5143500" cy="561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6025" y="556170"/>
            <a:ext cx="16764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13 of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837" y="314325"/>
            <a:ext cx="540930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TRUST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514350"/>
            <a:ext cx="5884798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Privacy, Security Commitments &amp; Store Builds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575" y="333375"/>
            <a:ext cx="119062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850" y="5838825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Strict POSIX forward-slash zip archives built via Python to pass store linters.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1318170"/>
            <a:ext cx="5400675" cy="20002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8BDF8"/>
                </a:solidFill>
                <a:latin typeface="Plus Jakarta Sans"/>
              </a:rPr>
              <a:t>Non-Custodial &amp; Privacy Guarantees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5905500"/>
            <a:ext cx="123825" cy="1190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19850" y="1318170"/>
            <a:ext cx="5400675" cy="20002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4D399"/>
                </a:solidFill>
                <a:latin typeface="Plus Jakarta Sans"/>
              </a:rPr>
              <a:t>Cross-Browser Store Packages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1346745"/>
            <a:ext cx="200025" cy="1571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7250" y="1651545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Zero Private Key Access: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ReputeX never requests, accesses, or stores private keys, seed phrases, or wallet connections.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165002"/>
            <a:ext cx="4914900" cy="418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Isolated World Scripts: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Content scripts run in isolated environments without injecting external third-party &lt;/div&gt; tags.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687984"/>
            <a:ext cx="4914900" cy="427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Safe DOM Operations: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Exclusively uses textContent and createElement DOM methods — zero innerHTML injection.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3220491"/>
            <a:ext cx="4914900" cy="418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Local History Only: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Scan logs remain stored exclusively in client chrome.storage.local.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3743473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Zero Telemetry: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No user behavior tracking, profiling, or sellable analytical logs.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9850" y="1346745"/>
            <a:ext cx="200025" cy="15716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3675" y="1775370"/>
            <a:ext cx="1228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8BDF8"/>
                </a:solidFill>
                <a:latin typeface="Plus Jakarta Sans"/>
              </a:rPr>
              <a:t>Chrome Web Store: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3675" y="1965870"/>
            <a:ext cx="4895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"/>
              </a:rPr>
              <a:t>ReputeX-Chrome-Extension-v2.1.zip — Chromium Manifest V3 compliant package.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3675" y="2565945"/>
            <a:ext cx="15906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34D399"/>
                </a:solidFill>
                <a:latin typeface="Plus Jakarta Sans"/>
              </a:rPr>
              <a:t>Microsoft Edge Add-ons: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3675" y="2756445"/>
            <a:ext cx="4895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"/>
              </a:rPr>
              <a:t>ReputeX-Edge-Extension-v2.1.zip — Edge store target.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3675" y="3204120"/>
            <a:ext cx="1371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BBF24"/>
                </a:solidFill>
                <a:latin typeface="Plus Jakarta Sans"/>
              </a:rPr>
              <a:t>Mozilla AMO (Firefox):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3675" y="3394620"/>
            <a:ext cx="4895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"/>
              </a:rPr>
              <a:t>ReputeX-Firefox-Extension-v2.1.zip — Gecko MV3 manifest with Gecko ID &amp; host permissions.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3675" y="3994695"/>
            <a:ext cx="1657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CBD5E1"/>
                </a:solidFill>
                <a:latin typeface="Plus Jakarta Sans"/>
              </a:rPr>
              <a:t>Opera &amp; Brave Extensions: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3675" y="4185195"/>
            <a:ext cx="4895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94A3B8"/>
                </a:solidFill>
                <a:latin typeface="Plus Jakarta Sans"/>
              </a:rPr>
              <a:t>ReputeX-Opera-Extension-v2.1.zip — Opera &amp; Brave desktop target.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" y="1684883"/>
            <a:ext cx="13335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" y="2198340"/>
            <a:ext cx="13335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" y="2721322"/>
            <a:ext cx="171450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" y="3253829"/>
            <a:ext cx="133350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" y="3776811"/>
            <a:ext cx="1714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1118145"/>
            <a:ext cx="5581650" cy="52064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118145"/>
            <a:ext cx="5581650" cy="52064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5791200"/>
            <a:ext cx="51435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1632495"/>
            <a:ext cx="514350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099220"/>
            <a:ext cx="514350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2565945"/>
            <a:ext cx="514350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032670"/>
            <a:ext cx="514350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499395"/>
            <a:ext cx="514350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966120"/>
            <a:ext cx="514350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75" y="6324600"/>
            <a:ext cx="11372850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4650" y="556170"/>
            <a:ext cx="124777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9575" y="6429375"/>
            <a:ext cx="3000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ReputeX v2.1.0 | Web3 Explainable AI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8975" y="64293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Slide 14 of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837" y="314325"/>
            <a:ext cx="4839741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 SemiBold"/>
              </a:rPr>
              <a:t>REPUTEX VERSION 2.1 &amp; BEYOND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514350"/>
            <a:ext cx="5286754" cy="308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1" i="0" u="none">
                <a:solidFill>
                  <a:srgbClr val="FFFFFF"/>
                </a:solidFill>
                <a:latin typeface="Plus Jakarta Sans"/>
              </a:rPr>
              <a:t>Scoring Benchmarks &amp; Product Roadmap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575" y="333375"/>
            <a:ext cx="119062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8650" y="5991225"/>
            <a:ext cx="514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JetBrains Mono"/>
              </a:rPr>
              <a:t>Continuous mathematical curve distribution prevents score clustering.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" y="1318170"/>
            <a:ext cx="5400675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8BDF8"/>
                </a:solidFill>
                <a:latin typeface="Plus Jakarta Sans"/>
              </a:rPr>
              <a:t>Empirical Scoring Benchmarks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1318170"/>
            <a:ext cx="5400675" cy="20002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237" b="1" i="0" u="none">
                <a:solidFill>
                  <a:srgbClr val="34D399"/>
                </a:solidFill>
                <a:latin typeface="Plus Jakarta Sans"/>
              </a:rPr>
              <a:t>Future Feature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5943600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 SemiBold"/>
              </a:rPr>
              <a:t>Make Web3 Safer — One Address at a Time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8405" y="5895975"/>
            <a:ext cx="984944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1346745"/>
            <a:ext cx="114300" cy="15716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1346745"/>
            <a:ext cx="180975" cy="15716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48450" y="1632495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Pre-Sign Transaction Simulation: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Preview state changes, asset transfers, and approval risks before signing in MetaMask/Phantom.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2117377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Watchlist Real-Time Alerts: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WebPush notifications when bookmarked addresses initiate suspicious high-value transactions.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2602259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Network Graph Visualization: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Interactive 2D/3D visual counterparty graph mapping 1-hop and 2-hop entity relationships.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3087141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Mobile Companion App: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Standalone iOS &amp; Android wallet reputation scanner using device camera QR code reader.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8450" y="3572023"/>
            <a:ext cx="4914900" cy="40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sz="1087" b="0" i="0" u="none">
                <a:solidFill>
                  <a:srgbClr val="F8FAFC"/>
                </a:solidFill>
                <a:latin typeface="Plus Jakarta Sans SemiBold"/>
              </a:rPr>
              <a:t>DAO Governance Reputation:</a:t>
            </a:r>
            <a:r>
              <a:rPr sz="1087" b="0" i="0" u="none">
                <a:solidFill>
                  <a:srgbClr val="CBD5E1"/>
                </a:solidFill>
                <a:latin typeface="Plus Jakarta Sans"/>
              </a:rPr>
              <a:t> Reputation-weighted voting mechanisms for community threat validation.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1751558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1F5F9"/>
                </a:solidFill>
                <a:latin typeface="JetBrains Mono"/>
              </a:rPr>
              <a:t>vitalik.eth (ETH Founder)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2905" y="1708695"/>
            <a:ext cx="984944" cy="2476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2950" y="2218283"/>
            <a:ext cx="2057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1F5F9"/>
                </a:solidFill>
                <a:latin typeface="JetBrains Mono"/>
              </a:rPr>
              <a:t>Satoshi Genesis BTC Address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2905" y="2175420"/>
            <a:ext cx="984944" cy="2476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2950" y="2685008"/>
            <a:ext cx="2590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1F5F9"/>
                </a:solidFill>
                <a:latin typeface="JetBrains Mono"/>
              </a:rPr>
              <a:t>Active DeFi Trader (2y, 450 peers)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3450" y="2642145"/>
            <a:ext cx="914400" cy="2476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2950" y="3151733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1F5F9"/>
                </a:solidFill>
                <a:latin typeface="JetBrains Mono"/>
              </a:rPr>
              <a:t>Casual Web3 User (6mo, 50 txs)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43450" y="3108870"/>
            <a:ext cx="914400" cy="247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2950" y="3618458"/>
            <a:ext cx="1981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1F5F9"/>
                </a:solidFill>
                <a:latin typeface="JetBrains Mono"/>
              </a:rPr>
              <a:t>Dormant Wallet (1y, 5 txs)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43450" y="3575595"/>
            <a:ext cx="914400" cy="2476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2950" y="4085183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7171"/>
                </a:solidFill>
                <a:latin typeface="JetBrains Mono"/>
              </a:rPr>
              <a:t>Flagged Scam Drainer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3845" y="4042320"/>
            <a:ext cx="844004" cy="2476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1665833"/>
            <a:ext cx="114300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2150715"/>
            <a:ext cx="114300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2635597"/>
            <a:ext cx="114300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3120479"/>
            <a:ext cx="114300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3605361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2475</Words>
  <Application>Microsoft Office PowerPoint</Application>
  <PresentationFormat>Widescreen</PresentationFormat>
  <Paragraphs>304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JetBrains Mono</vt:lpstr>
      <vt:lpstr>JetBrains Mono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Aldrid Fernandes</cp:lastModifiedBy>
  <cp:revision>3</cp:revision>
  <dcterms:created xsi:type="dcterms:W3CDTF">2013-01-27T09:14:16Z</dcterms:created>
  <dcterms:modified xsi:type="dcterms:W3CDTF">2026-09-17T05:34:29Z</dcterms:modified>
  <cp:category/>
</cp:coreProperties>
</file>